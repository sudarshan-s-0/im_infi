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9" r:id="rId12"/>
    <p:sldId id="271" r:id="rId13"/>
    <p:sldId id="270" r:id="rId14"/>
    <p:sldId id="265" r:id="rId15"/>
    <p:sldId id="264" r:id="rId16"/>
    <p:sldId id="272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DEE31-14B5-96D7-BD11-B8070ECE7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A5921-E593-5349-DF41-FA81F8A52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BA6997-FBF7-AC59-AB7E-67FA45E03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F4285-8FEA-6428-3B9E-11F9F9DED7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45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.jpe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18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70000"/>
            </a:srgbClr>
          </a:solidFill>
          <a:ln w="12700">
            <a:solidFill>
              <a:srgbClr val="000D1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029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50292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IM_INFI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1280160"/>
            <a:ext cx="822960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 Verification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Simulator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02920" y="342900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Backup Validation &amp; Recovery Readiness Platform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397764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"A backup is only useful if it can be restored successfully."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26280"/>
            <a:ext cx="1965960" cy="411480"/>
          </a:xfrm>
          <a:prstGeom prst="roundRect">
            <a:avLst>
              <a:gd name="adj" fmla="val 11111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02920" y="4526280"/>
            <a:ext cx="1965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Sujeth 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51760" y="4526280"/>
            <a:ext cx="1965960" cy="411480"/>
          </a:xfrm>
          <a:prstGeom prst="roundRect">
            <a:avLst>
              <a:gd name="adj" fmla="val 11111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651760" y="4526280"/>
            <a:ext cx="1965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Vannilavan C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00600" y="4526280"/>
            <a:ext cx="1965960" cy="411480"/>
          </a:xfrm>
          <a:prstGeom prst="roundRect">
            <a:avLst>
              <a:gd name="adj" fmla="val 11111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800600" y="4526280"/>
            <a:ext cx="1965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Sudarshan 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49440" y="4526280"/>
            <a:ext cx="1965960" cy="411480"/>
          </a:xfrm>
          <a:prstGeom prst="roundRect">
            <a:avLst>
              <a:gd name="adj" fmla="val 11111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949440" y="4526280"/>
            <a:ext cx="1965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Vishwa Adhesh S K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55000"/>
            </a:srgbClr>
          </a:solidFill>
          <a:ln w="12700">
            <a:solidFill>
              <a:srgbClr val="000D1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0810">
              <a:alpha val="70000"/>
            </a:srgbClr>
          </a:solidFill>
          <a:ln w="12700">
            <a:solidFill>
              <a:srgbClr val="02081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16459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Backup Validation Matters</a:t>
            </a:r>
          </a:p>
        </p:txBody>
      </p:sp>
      <p:sp>
        <p:nvSpPr>
          <p:cNvPr id="7" name="Shape 4"/>
          <p:cNvSpPr/>
          <p:nvPr/>
        </p:nvSpPr>
        <p:spPr>
          <a:xfrm>
            <a:off x="411480" y="1371600"/>
            <a:ext cx="4754880" cy="704088"/>
          </a:xfrm>
          <a:prstGeom prst="roundRect">
            <a:avLst>
              <a:gd name="adj" fmla="val 1039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2920" y="1371600"/>
            <a:ext cx="347472" cy="704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1371600"/>
            <a:ext cx="4114800" cy="704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Organizations create backups but rarely verify them</a:t>
            </a:r>
          </a:p>
        </p:txBody>
      </p:sp>
      <p:sp>
        <p:nvSpPr>
          <p:cNvPr id="10" name="Shape 7"/>
          <p:cNvSpPr/>
          <p:nvPr/>
        </p:nvSpPr>
        <p:spPr>
          <a:xfrm>
            <a:off x="411480" y="2176272"/>
            <a:ext cx="4754880" cy="704088"/>
          </a:xfrm>
          <a:prstGeom prst="roundRect">
            <a:avLst>
              <a:gd name="adj" fmla="val 1039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02920" y="2176272"/>
            <a:ext cx="347472" cy="704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4400" y="2176272"/>
            <a:ext cx="4114800" cy="704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Backups assumed recoverable, often corrupted silently</a:t>
            </a:r>
          </a:p>
        </p:txBody>
      </p:sp>
      <p:sp>
        <p:nvSpPr>
          <p:cNvPr id="13" name="Shape 10"/>
          <p:cNvSpPr/>
          <p:nvPr/>
        </p:nvSpPr>
        <p:spPr>
          <a:xfrm>
            <a:off x="411480" y="2980944"/>
            <a:ext cx="4754880" cy="704088"/>
          </a:xfrm>
          <a:prstGeom prst="roundRect">
            <a:avLst>
              <a:gd name="adj" fmla="val 1039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02920" y="2980944"/>
            <a:ext cx="347472" cy="704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14400" y="2980944"/>
            <a:ext cx="4114800" cy="704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Failures detected only during disasters — too late</a:t>
            </a:r>
          </a:p>
        </p:txBody>
      </p:sp>
      <p:sp>
        <p:nvSpPr>
          <p:cNvPr id="16" name="Shape 13"/>
          <p:cNvSpPr/>
          <p:nvPr/>
        </p:nvSpPr>
        <p:spPr>
          <a:xfrm>
            <a:off x="411480" y="3785616"/>
            <a:ext cx="4754880" cy="704088"/>
          </a:xfrm>
          <a:prstGeom prst="roundRect">
            <a:avLst>
              <a:gd name="adj" fmla="val 1039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3785616"/>
            <a:ext cx="347472" cy="704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14400" y="3785616"/>
            <a:ext cx="4114800" cy="704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verification is time-consuming &amp; error-prone</a:t>
            </a:r>
          </a:p>
        </p:txBody>
      </p:sp>
      <p:sp>
        <p:nvSpPr>
          <p:cNvPr id="19" name="Shape 16"/>
          <p:cNvSpPr/>
          <p:nvPr/>
        </p:nvSpPr>
        <p:spPr>
          <a:xfrm>
            <a:off x="5349240" y="1371600"/>
            <a:ext cx="3337560" cy="2651760"/>
          </a:xfrm>
          <a:prstGeom prst="roundRect">
            <a:avLst>
              <a:gd name="adj" fmla="val 4138"/>
            </a:avLst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440680" y="1463040"/>
            <a:ext cx="3154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Recovery Failure Risks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40680" y="1965960"/>
            <a:ext cx="3154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💾  Permanent Data Loss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40680" y="2441448"/>
            <a:ext cx="3154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⏱️  Extended Downtime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40680" y="2916936"/>
            <a:ext cx="3154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💸  Financial Impact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40680" y="3392424"/>
            <a:ext cx="3154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🏢  Business Disruption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11480" y="4572000"/>
            <a:ext cx="8275320" cy="457200"/>
          </a:xfrm>
          <a:prstGeom prst="roundRect">
            <a:avLst>
              <a:gd name="adj" fmla="val 16000"/>
            </a:avLst>
          </a:prstGeom>
          <a:solidFill>
            <a:srgbClr val="00C8F0">
              <a:alpha val="85000"/>
            </a:srgbClr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02920" y="4572000"/>
            <a:ext cx="8138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08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Insight: Creating backups is not enough — recovery readiness must be actively verified.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41428">
              <a:alpha val="80000"/>
            </a:srgbClr>
          </a:solidFill>
          <a:ln w="12700">
            <a:solidFill>
              <a:srgbClr val="04142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Backup Verification Simulator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05840" cy="1005840"/>
          </a:xfrm>
          <a:prstGeom prst="ellipse">
            <a:avLst/>
          </a:prstGeom>
          <a:solidFill>
            <a:srgbClr val="0A1E35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572768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514600"/>
            <a:ext cx="1280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691640" y="1856232"/>
            <a:ext cx="4754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134616" y="1750568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F0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304288" y="1417320"/>
            <a:ext cx="1005840" cy="1005840"/>
          </a:xfrm>
          <a:prstGeom prst="ellipse">
            <a:avLst/>
          </a:prstGeom>
          <a:solidFill>
            <a:srgbClr val="0A1E35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7168" y="1572768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67128" y="2514600"/>
            <a:ext cx="1280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Sandbox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Restore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355848" y="1856232"/>
            <a:ext cx="4754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3808476" y="1735582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F0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968496" y="1417320"/>
            <a:ext cx="1005840" cy="1005840"/>
          </a:xfrm>
          <a:prstGeom prst="ellipse">
            <a:avLst/>
          </a:prstGeom>
          <a:solidFill>
            <a:srgbClr val="0A1E35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1376" y="1572768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31336" y="2514600"/>
            <a:ext cx="1280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0056" y="1856232"/>
            <a:ext cx="4754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5472684" y="1741932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F0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632704" y="1417320"/>
            <a:ext cx="1005840" cy="1005840"/>
          </a:xfrm>
          <a:prstGeom prst="ellipse">
            <a:avLst/>
          </a:prstGeom>
          <a:solidFill>
            <a:srgbClr val="0A1E35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5584" y="1572768"/>
            <a:ext cx="640080" cy="6400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95544" y="2514600"/>
            <a:ext cx="1280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684264" y="1856232"/>
            <a:ext cx="4754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7151624" y="1754124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F0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296912" y="1417320"/>
            <a:ext cx="1005840" cy="1005840"/>
          </a:xfrm>
          <a:prstGeom prst="ellipse">
            <a:avLst/>
          </a:prstGeom>
          <a:solidFill>
            <a:srgbClr val="0A1E35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9792" y="1572768"/>
            <a:ext cx="640080" cy="6400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59752" y="2514600"/>
            <a:ext cx="1280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Issue Alert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48640" y="3337560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Detects newly created backups automatically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548640" y="3657600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Restores backups to an isolated sandbox — no production impact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Executes multi-layer validation checks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Generates JSON and human-readable validation reports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GitHub Issues instantly on failure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548640" y="4773168"/>
            <a:ext cx="8046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55000"/>
            </a:srgbClr>
          </a:solidFill>
          <a:ln w="12700">
            <a:solidFill>
              <a:srgbClr val="000D1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0810">
              <a:alpha val="70000"/>
            </a:srgbClr>
          </a:solidFill>
          <a:ln w="12700">
            <a:solidFill>
              <a:srgbClr val="02081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Features &amp; Validation Checks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033272"/>
            <a:ext cx="502920" cy="502920"/>
          </a:xfrm>
          <a:prstGeom prst="ellipse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07899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60704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Sandbox Environment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155448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isolation from production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182880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Prevents production impact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210312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cleanup logic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54880" y="896112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892040" y="1033272"/>
            <a:ext cx="502920" cy="502920"/>
          </a:xfrm>
          <a:prstGeom prst="ellipse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078992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1060704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Multi-Layer Validation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4937760" y="155448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existence checks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937760" y="182880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Exact row and column count comparison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937760" y="210312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Cryptographic SHA-256 checksums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937760" y="237744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DB integrity checks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65760" y="2926080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502920" y="3063240"/>
            <a:ext cx="502920" cy="502920"/>
          </a:xfrm>
          <a:prstGeom prst="ellipse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10896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97280" y="3090672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Reporting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" name="Text 19"/>
          <p:cNvSpPr/>
          <p:nvPr/>
        </p:nvSpPr>
        <p:spPr>
          <a:xfrm>
            <a:off x="548640" y="3584448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PASS/FAIL summaries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48640" y="3858768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JSON detailed reports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48640" y="4133088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Human-readable text reports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4754880" y="2926080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3"/>
          <p:cNvSpPr/>
          <p:nvPr/>
        </p:nvSpPr>
        <p:spPr>
          <a:xfrm>
            <a:off x="4892040" y="3063240"/>
            <a:ext cx="502920" cy="502920"/>
          </a:xfrm>
          <a:prstGeom prst="ellipse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108960"/>
            <a:ext cx="411480" cy="4114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86400" y="3090672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Dashboard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1" name="Text 25"/>
          <p:cNvSpPr/>
          <p:nvPr/>
        </p:nvSpPr>
        <p:spPr>
          <a:xfrm>
            <a:off x="4937760" y="3584448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Execution history monitoring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4937760" y="3858768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logs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4937760" y="4133088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Configuration management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41428">
              <a:alpha val="80000"/>
            </a:srgbClr>
          </a:solidFill>
          <a:ln w="12700">
            <a:solidFill>
              <a:srgbClr val="04142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Troubleshooting Assistant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Failure Analysis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128016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Powered by: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1389888"/>
            <a:ext cx="27432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 API + Llama 3.3 70B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21408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139696"/>
            <a:ext cx="128016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2139696"/>
            <a:ext cx="27432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context &amp; root causes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71216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2889504"/>
            <a:ext cx="128016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2889504"/>
            <a:ext cx="27432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Step-by-step resolution guidance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621024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639312"/>
            <a:ext cx="128016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3639312"/>
            <a:ext cx="27432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Debugging time significantly</a:t>
            </a:r>
            <a:endParaRPr lang="en-US" sz="12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261104"/>
            <a:ext cx="594360" cy="5943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2057400" y="4370832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Integrated directly into the web dashboard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46320" y="896112"/>
            <a:ext cx="3886200" cy="4023360"/>
          </a:xfrm>
          <a:prstGeom prst="roundRect">
            <a:avLst>
              <a:gd name="adj" fmla="val 2824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937760" y="960120"/>
            <a:ext cx="3703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Assistant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983480" y="1371600"/>
            <a:ext cx="3611880" cy="640080"/>
          </a:xfrm>
          <a:prstGeom prst="roundRect">
            <a:avLst>
              <a:gd name="adj" fmla="val 10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074920" y="1408176"/>
            <a:ext cx="34290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Validation failed: checksum mismatch in table users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120640" y="2121408"/>
            <a:ext cx="3474720" cy="640080"/>
          </a:xfrm>
          <a:prstGeom prst="roundRect">
            <a:avLst>
              <a:gd name="adj" fmla="val 10000"/>
            </a:avLst>
          </a:prstGeom>
          <a:solidFill>
            <a:srgbClr val="1A4A2E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212080" y="2157984"/>
            <a:ext cx="32918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detected a SHA-256 checksum mismatch. This usually means the backup was modified after creation. Let me check...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120640" y="2871216"/>
            <a:ext cx="3474720" cy="640080"/>
          </a:xfrm>
          <a:prstGeom prst="roundRect">
            <a:avLst>
              <a:gd name="adj" fmla="val 10000"/>
            </a:avLst>
          </a:prstGeom>
          <a:solidFill>
            <a:srgbClr val="1A4A2E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5212080" y="2907792"/>
            <a:ext cx="32918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Root Cause: Backup file corruption during transfer.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Fix: Re-run backup with --verify flag and validate the source database integrity first.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983480" y="3621024"/>
            <a:ext cx="3611880" cy="640080"/>
          </a:xfrm>
          <a:prstGeom prst="roundRect">
            <a:avLst>
              <a:gd name="adj" fmla="val 10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5074920" y="3657600"/>
            <a:ext cx="34290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Resolution applied. Validation passed.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55000"/>
            </a:srgbClr>
          </a:solidFill>
          <a:ln w="12700">
            <a:solidFill>
              <a:srgbClr val="000D1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0810">
              <a:alpha val="70000"/>
            </a:srgbClr>
          </a:solidFill>
          <a:ln w="12700">
            <a:solidFill>
              <a:srgbClr val="02081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6200" y="960120"/>
            <a:ext cx="1371600" cy="502920"/>
          </a:xfrm>
          <a:prstGeom prst="roundRect">
            <a:avLst>
              <a:gd name="adj" fmla="val 12727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86200" y="96012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286000" cy="502920"/>
          </a:xfrm>
          <a:prstGeom prst="roundRect">
            <a:avLst>
              <a:gd name="adj" fmla="val 12727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29000" y="1828800"/>
            <a:ext cx="2286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Dashboard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71800" y="269748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1A3A5C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971800" y="269748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/ FastAPI Backend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3566160"/>
            <a:ext cx="2743200" cy="502920"/>
          </a:xfrm>
          <a:prstGeom prst="roundRect">
            <a:avLst>
              <a:gd name="adj" fmla="val 12727"/>
            </a:avLst>
          </a:prstGeom>
          <a:solidFill>
            <a:srgbClr val="0D5C63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0" y="356616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Agent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463040"/>
            <a:ext cx="0" cy="36576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14088" y="166878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0"/>
                </a:solidFill>
              </a:rPr>
              <a:t>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2331720"/>
            <a:ext cx="0" cy="36576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14088" y="254889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0"/>
                </a:solidFill>
              </a:rPr>
              <a:t>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3200400"/>
            <a:ext cx="0" cy="36576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14088" y="341757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0"/>
                </a:solidFill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4400" y="434340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020810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14400" y="434340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V="1">
            <a:off x="2377440" y="4654296"/>
            <a:ext cx="1463040" cy="9144"/>
          </a:xfrm>
          <a:prstGeom prst="line">
            <a:avLst/>
          </a:prstGeom>
          <a:noFill/>
          <a:ln w="12700">
            <a:solidFill>
              <a:srgbClr val="00C8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840480" y="434340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020810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840480" y="434340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4069080"/>
            <a:ext cx="0" cy="274320"/>
          </a:xfrm>
          <a:prstGeom prst="line">
            <a:avLst/>
          </a:prstGeom>
          <a:noFill/>
          <a:ln w="12700">
            <a:solidFill>
              <a:srgbClr val="00C8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766560" y="434340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020810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766560" y="434340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Sandbox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03520" y="4649216"/>
            <a:ext cx="1463040" cy="14224"/>
          </a:xfrm>
          <a:prstGeom prst="line">
            <a:avLst/>
          </a:prstGeom>
          <a:noFill/>
          <a:ln w="12700">
            <a:solidFill>
              <a:srgbClr val="00C8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41428">
              <a:alpha val="80000"/>
            </a:srgbClr>
          </a:solidFill>
          <a:ln w="12700">
            <a:solidFill>
              <a:srgbClr val="04142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Workflow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Verification Process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1051560" cy="1051560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481328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35534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08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4320" y="2450592"/>
            <a:ext cx="1325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 Creation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Rotation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508760" y="1847088"/>
            <a:ext cx="2468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691640" y="175564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0"/>
                </a:solidFill>
              </a:rPr>
              <a:t>▶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847088" y="1325880"/>
            <a:ext cx="1051560" cy="1051560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2536" y="1481328"/>
            <a:ext cx="731520" cy="731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91284" y="138531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08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709928" y="2450592"/>
            <a:ext cx="1325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Agent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Initiation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944368" y="1847088"/>
            <a:ext cx="2468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3127248" y="175564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0"/>
                </a:solidFill>
              </a:rPr>
              <a:t>▶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282696" y="1325880"/>
            <a:ext cx="1051560" cy="1051560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8144" y="1563624"/>
            <a:ext cx="731520" cy="6492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376168" y="13350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08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3145536" y="2450592"/>
            <a:ext cx="1325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Sandbox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Restore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379976" y="1847088"/>
            <a:ext cx="2468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4562856" y="175564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0"/>
                </a:solidFill>
              </a:rPr>
              <a:t>▶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718304" y="1325880"/>
            <a:ext cx="1051560" cy="1051560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1481328"/>
            <a:ext cx="731520" cy="7315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764024" y="134416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08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581144" y="2450592"/>
            <a:ext cx="1325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Execution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815584" y="1847088"/>
            <a:ext cx="2468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/>
          <p:nvPr/>
        </p:nvSpPr>
        <p:spPr>
          <a:xfrm>
            <a:off x="5998464" y="175564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0"/>
                </a:solidFill>
              </a:rPr>
              <a:t>▶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6153912" y="1325880"/>
            <a:ext cx="1051560" cy="1051560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1563624"/>
            <a:ext cx="685800" cy="64922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199632" y="134416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08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6016752" y="2450592"/>
            <a:ext cx="1325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Generation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7251192" y="1847088"/>
            <a:ext cx="2468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8"/>
          <p:cNvSpPr/>
          <p:nvPr/>
        </p:nvSpPr>
        <p:spPr>
          <a:xfrm>
            <a:off x="7434072" y="175564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0"/>
                </a:solidFill>
              </a:rPr>
              <a:t>▶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589520" y="1325880"/>
            <a:ext cx="1051560" cy="1051560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4968" y="1481328"/>
            <a:ext cx="731520" cy="7315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635240" y="134416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08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7452360" y="2450592"/>
            <a:ext cx="1325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Issue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Metadata Log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457200" y="320040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3337560"/>
            <a:ext cx="457200" cy="45720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234440" y="3246120"/>
            <a:ext cx="7315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Continuous verification of backup recoverability — with zero manual effort.</a:t>
            </a:r>
            <a:endParaRPr lang="en-US" sz="1400" dirty="0"/>
          </a:p>
        </p:txBody>
      </p:sp>
      <p:sp>
        <p:nvSpPr>
          <p:cNvPr id="43" name="Shape 34"/>
          <p:cNvSpPr/>
          <p:nvPr/>
        </p:nvSpPr>
        <p:spPr>
          <a:xfrm>
            <a:off x="1005840" y="4114800"/>
            <a:ext cx="2240280" cy="777240"/>
          </a:xfrm>
          <a:prstGeom prst="roundRect">
            <a:avLst>
              <a:gd name="adj" fmla="val 11765"/>
            </a:avLst>
          </a:prstGeom>
          <a:solidFill>
            <a:srgbClr val="0A4A6A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5"/>
          <p:cNvSpPr/>
          <p:nvPr/>
        </p:nvSpPr>
        <p:spPr>
          <a:xfrm>
            <a:off x="1005840" y="4133088"/>
            <a:ext cx="2240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1800" dirty="0"/>
          </a:p>
        </p:txBody>
      </p:sp>
      <p:sp>
        <p:nvSpPr>
          <p:cNvPr id="45" name="Text 36"/>
          <p:cNvSpPr/>
          <p:nvPr/>
        </p:nvSpPr>
        <p:spPr>
          <a:xfrm>
            <a:off x="1005840" y="450799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3611880" y="4114800"/>
            <a:ext cx="2240280" cy="777240"/>
          </a:xfrm>
          <a:prstGeom prst="roundRect">
            <a:avLst>
              <a:gd name="adj" fmla="val 11765"/>
            </a:avLst>
          </a:prstGeom>
          <a:solidFill>
            <a:srgbClr val="0A4A6A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38"/>
          <p:cNvSpPr/>
          <p:nvPr/>
        </p:nvSpPr>
        <p:spPr>
          <a:xfrm>
            <a:off x="3611880" y="4133088"/>
            <a:ext cx="2240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SHA-256</a:t>
            </a:r>
            <a:endParaRPr lang="en-US" sz="1800" dirty="0"/>
          </a:p>
        </p:txBody>
      </p:sp>
      <p:sp>
        <p:nvSpPr>
          <p:cNvPr id="48" name="Text 39"/>
          <p:cNvSpPr/>
          <p:nvPr/>
        </p:nvSpPr>
        <p:spPr>
          <a:xfrm>
            <a:off x="3611880" y="450799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Cryptographic Check</a:t>
            </a:r>
            <a:endParaRPr lang="en-US" sz="1000" dirty="0"/>
          </a:p>
        </p:txBody>
      </p:sp>
      <p:sp>
        <p:nvSpPr>
          <p:cNvPr id="49" name="Shape 40"/>
          <p:cNvSpPr/>
          <p:nvPr/>
        </p:nvSpPr>
        <p:spPr>
          <a:xfrm>
            <a:off x="6217920" y="4114800"/>
            <a:ext cx="2240280" cy="777240"/>
          </a:xfrm>
          <a:prstGeom prst="roundRect">
            <a:avLst>
              <a:gd name="adj" fmla="val 11765"/>
            </a:avLst>
          </a:prstGeom>
          <a:solidFill>
            <a:srgbClr val="0A4A6A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1"/>
          <p:cNvSpPr/>
          <p:nvPr/>
        </p:nvSpPr>
        <p:spPr>
          <a:xfrm>
            <a:off x="6217920" y="4133088"/>
            <a:ext cx="2240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</a:t>
            </a:r>
            <a:endParaRPr lang="en-US" sz="1800" dirty="0"/>
          </a:p>
        </p:txBody>
      </p:sp>
      <p:sp>
        <p:nvSpPr>
          <p:cNvPr id="51" name="Text 42"/>
          <p:cNvSpPr/>
          <p:nvPr/>
        </p:nvSpPr>
        <p:spPr>
          <a:xfrm>
            <a:off x="6217920" y="450799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55000"/>
            </a:srgbClr>
          </a:solidFill>
          <a:ln w="12700">
            <a:solidFill>
              <a:srgbClr val="000D1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0810">
              <a:alpha val="70000"/>
            </a:srgbClr>
          </a:solidFill>
          <a:ln w="12700">
            <a:solidFill>
              <a:srgbClr val="02081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</a:t>
            </a:r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2743200" cy="1828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950976"/>
            <a:ext cx="25603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</a:p>
        </p:txBody>
      </p:sp>
      <p:sp>
        <p:nvSpPr>
          <p:cNvPr id="11" name="Shape 9"/>
          <p:cNvSpPr/>
          <p:nvPr/>
        </p:nvSpPr>
        <p:spPr>
          <a:xfrm>
            <a:off x="3291840" y="91440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91840" y="91440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91840" y="1188720"/>
            <a:ext cx="2743200" cy="18288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383280" y="950976"/>
            <a:ext cx="25603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Framework</a:t>
            </a:r>
          </a:p>
        </p:txBody>
      </p:sp>
      <p:sp>
        <p:nvSpPr>
          <p:cNvPr id="15" name="Shape 13"/>
          <p:cNvSpPr/>
          <p:nvPr/>
        </p:nvSpPr>
        <p:spPr>
          <a:xfrm>
            <a:off x="3474720" y="146304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474720" y="146304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</a:t>
            </a:r>
          </a:p>
        </p:txBody>
      </p:sp>
      <p:sp>
        <p:nvSpPr>
          <p:cNvPr id="17" name="Shape 15"/>
          <p:cNvSpPr/>
          <p:nvPr/>
        </p:nvSpPr>
        <p:spPr>
          <a:xfrm>
            <a:off x="3474720" y="1847088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474720" y="1847088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Flask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91440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217920" y="91440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217920" y="1188720"/>
            <a:ext cx="2743200" cy="18288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309360" y="950976"/>
            <a:ext cx="25603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</a:p>
        </p:txBody>
      </p:sp>
      <p:sp>
        <p:nvSpPr>
          <p:cNvPr id="23" name="Shape 21"/>
          <p:cNvSpPr/>
          <p:nvPr/>
        </p:nvSpPr>
        <p:spPr>
          <a:xfrm>
            <a:off x="6400800" y="146304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00800" y="146304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</a:t>
            </a:r>
          </a:p>
        </p:txBody>
      </p:sp>
      <p:sp>
        <p:nvSpPr>
          <p:cNvPr id="25" name="Shape 23"/>
          <p:cNvSpPr/>
          <p:nvPr/>
        </p:nvSpPr>
        <p:spPr>
          <a:xfrm>
            <a:off x="365760" y="2907792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65760" y="2907792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65760" y="3182112"/>
            <a:ext cx="2743200" cy="182880"/>
          </a:xfrm>
          <a:prstGeom prst="rect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57200" y="2944368"/>
            <a:ext cx="25603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Integration</a:t>
            </a:r>
          </a:p>
        </p:txBody>
      </p:sp>
      <p:sp>
        <p:nvSpPr>
          <p:cNvPr id="29" name="Shape 27"/>
          <p:cNvSpPr/>
          <p:nvPr/>
        </p:nvSpPr>
        <p:spPr>
          <a:xfrm>
            <a:off x="548640" y="3456432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8640" y="3456432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API Version 1</a:t>
            </a:r>
          </a:p>
        </p:txBody>
      </p:sp>
      <p:sp>
        <p:nvSpPr>
          <p:cNvPr id="32" name="Text 30"/>
          <p:cNvSpPr/>
          <p:nvPr/>
        </p:nvSpPr>
        <p:spPr>
          <a:xfrm>
            <a:off x="548640" y="38404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291840" y="2907792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291840" y="2907792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291840" y="3182112"/>
            <a:ext cx="2743200" cy="182880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383280" y="2944368"/>
            <a:ext cx="25603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 &amp; APIs</a:t>
            </a:r>
          </a:p>
        </p:txBody>
      </p:sp>
      <p:sp>
        <p:nvSpPr>
          <p:cNvPr id="37" name="Shape 35"/>
          <p:cNvSpPr/>
          <p:nvPr/>
        </p:nvSpPr>
        <p:spPr>
          <a:xfrm>
            <a:off x="3474720" y="3456432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474720" y="3456432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API</a:t>
            </a:r>
          </a:p>
        </p:txBody>
      </p:sp>
      <p:sp>
        <p:nvSpPr>
          <p:cNvPr id="39" name="Shape 37"/>
          <p:cNvSpPr/>
          <p:nvPr/>
        </p:nvSpPr>
        <p:spPr>
          <a:xfrm>
            <a:off x="3474720" y="384048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474720" y="38404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Gmail API</a:t>
            </a:r>
          </a:p>
        </p:txBody>
      </p:sp>
      <p:sp>
        <p:nvSpPr>
          <p:cNvPr id="41" name="Shape 39"/>
          <p:cNvSpPr/>
          <p:nvPr/>
        </p:nvSpPr>
        <p:spPr>
          <a:xfrm>
            <a:off x="3474720" y="4224528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474720" y="4224528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Schedulers</a:t>
            </a:r>
          </a:p>
        </p:txBody>
      </p:sp>
      <p:sp>
        <p:nvSpPr>
          <p:cNvPr id="43" name="Shape 41"/>
          <p:cNvSpPr/>
          <p:nvPr/>
        </p:nvSpPr>
        <p:spPr>
          <a:xfrm>
            <a:off x="6217920" y="2907792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217920" y="2907792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217920" y="3182112"/>
            <a:ext cx="2743200" cy="1828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309360" y="2944368"/>
            <a:ext cx="25603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</a:t>
            </a:r>
          </a:p>
        </p:txBody>
      </p:sp>
      <p:sp>
        <p:nvSpPr>
          <p:cNvPr id="47" name="Shape 45"/>
          <p:cNvSpPr/>
          <p:nvPr/>
        </p:nvSpPr>
        <p:spPr>
          <a:xfrm>
            <a:off x="6400800" y="3456432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400800" y="3456432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</a:t>
            </a:r>
          </a:p>
        </p:txBody>
      </p:sp>
      <p:sp>
        <p:nvSpPr>
          <p:cNvPr id="49" name="Shape 47"/>
          <p:cNvSpPr/>
          <p:nvPr/>
        </p:nvSpPr>
        <p:spPr>
          <a:xfrm>
            <a:off x="6400800" y="384048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400800" y="38404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</a:t>
            </a:r>
          </a:p>
        </p:txBody>
      </p:sp>
      <p:sp>
        <p:nvSpPr>
          <p:cNvPr id="51" name="Shape 49"/>
          <p:cNvSpPr/>
          <p:nvPr/>
        </p:nvSpPr>
        <p:spPr>
          <a:xfrm>
            <a:off x="6400800" y="4224528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400800" y="4224528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Render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55000"/>
            </a:srgbClr>
          </a:solidFill>
          <a:ln w="12700">
            <a:solidFill>
              <a:srgbClr val="000D1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0810">
              <a:alpha val="70000"/>
            </a:srgbClr>
          </a:solidFill>
          <a:ln w="12700">
            <a:solidFill>
              <a:srgbClr val="02081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Engine — Deep Dive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each check works under the hood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768096"/>
          </a:xfrm>
          <a:prstGeom prst="roundRect">
            <a:avLst>
              <a:gd name="adj" fmla="val 9524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426464"/>
            <a:ext cx="512064" cy="512064"/>
          </a:xfrm>
          <a:prstGeom prst="ellipse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426464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353312"/>
            <a:ext cx="4389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Existence Check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143000" y="1682496"/>
            <a:ext cx="49377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Queries sqlite_master to confirm every expected table is present in the restored sandbox database.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481328"/>
            <a:ext cx="2377440" cy="402336"/>
          </a:xfrm>
          <a:prstGeom prst="roundRect">
            <a:avLst>
              <a:gd name="adj" fmla="val 18182"/>
            </a:avLst>
          </a:prstGeom>
          <a:solidFill>
            <a:srgbClr val="2A0A0A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63640" y="1481328"/>
            <a:ext cx="23774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 if any table missing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185416"/>
            <a:ext cx="8412480" cy="768096"/>
          </a:xfrm>
          <a:prstGeom prst="roundRect">
            <a:avLst>
              <a:gd name="adj" fmla="val 9524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02920" y="2313432"/>
            <a:ext cx="512064" cy="512064"/>
          </a:xfrm>
          <a:prstGeom prst="ellipse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" y="2313432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2240280"/>
            <a:ext cx="4389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 Count Comparison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" y="2569464"/>
            <a:ext cx="49377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Counts rows per table in both source and sandbox. Exact match required — even ±1 row triggers a failure.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2368296"/>
            <a:ext cx="2377440" cy="402336"/>
          </a:xfrm>
          <a:prstGeom prst="roundRect">
            <a:avLst>
              <a:gd name="adj" fmla="val 18182"/>
            </a:avLst>
          </a:prstGeom>
          <a:solidFill>
            <a:srgbClr val="2A0A0A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263640" y="2368296"/>
            <a:ext cx="23774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 if row counts differ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072384"/>
            <a:ext cx="8412480" cy="768096"/>
          </a:xfrm>
          <a:prstGeom prst="roundRect">
            <a:avLst>
              <a:gd name="adj" fmla="val 9524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2920" y="3200400"/>
            <a:ext cx="512064" cy="512064"/>
          </a:xfrm>
          <a:prstGeom prst="ellipse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" y="3200400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3127248"/>
            <a:ext cx="4389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SHA-256 Checksum Validation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43000" y="3456432"/>
            <a:ext cx="49377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Computes cryptographic hash of the backup file at creation time and re-verifies it before restore to detect corruption.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3255264"/>
            <a:ext cx="2377440" cy="402336"/>
          </a:xfrm>
          <a:prstGeom prst="roundRect">
            <a:avLst>
              <a:gd name="adj" fmla="val 18182"/>
            </a:avLst>
          </a:prstGeom>
          <a:solidFill>
            <a:srgbClr val="2A0A0A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63640" y="3255264"/>
            <a:ext cx="23774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 if hash mismatch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959352"/>
            <a:ext cx="8412480" cy="768096"/>
          </a:xfrm>
          <a:prstGeom prst="roundRect">
            <a:avLst>
              <a:gd name="adj" fmla="val 9524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02920" y="4087368"/>
            <a:ext cx="512064" cy="512064"/>
          </a:xfrm>
          <a:prstGeom prst="ellipse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02920" y="4087368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" y="4014216"/>
            <a:ext cx="4389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PRAGMA Integrity Check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43000" y="4343400"/>
            <a:ext cx="49377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SQLite's built-in PRAGMA integrity_check on the sandbox DB to catch page corruption, broken B-trees, and invalid pointers.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4142232"/>
            <a:ext cx="2377440" cy="402336"/>
          </a:xfrm>
          <a:prstGeom prst="roundRect">
            <a:avLst>
              <a:gd name="adj" fmla="val 18182"/>
            </a:avLst>
          </a:prstGeom>
          <a:solidFill>
            <a:srgbClr val="2A0A0A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263640" y="4142232"/>
            <a:ext cx="23774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 if integrity errors found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41428">
              <a:alpha val="80000"/>
            </a:srgbClr>
          </a:solidFill>
          <a:ln w="12700">
            <a:solidFill>
              <a:srgbClr val="04142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Alerting &amp; Integrations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4005072"/>
          </a:xfrm>
          <a:prstGeom prst="roundRect">
            <a:avLst>
              <a:gd name="adj" fmla="val 274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1092708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73736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Issues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212848"/>
            <a:ext cx="37490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Auto-creates issue on any validation failure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706624"/>
            <a:ext cx="37490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Issue title includes timestamp + check type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3200400"/>
            <a:ext cx="37490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Body contains full error context &amp; stack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3694176"/>
            <a:ext cx="37490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Labels added: bug, backup-failure, auto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4187952"/>
            <a:ext cx="37490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Links to the full JSON report artifact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4617720"/>
            <a:ext cx="3794760" cy="228600"/>
          </a:xfrm>
          <a:prstGeom prst="roundRect">
            <a:avLst>
              <a:gd name="adj" fmla="val 20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48640" y="4626864"/>
            <a:ext cx="3703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🔴  [AUTO] Backup validation failed — checksum mismatch · 2 min ago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663440" y="914400"/>
            <a:ext cx="4114800" cy="4005072"/>
          </a:xfrm>
          <a:prstGeom prst="roundRect">
            <a:avLst>
              <a:gd name="adj" fmla="val 274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088136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54880" y="173736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Gmail Notifications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800600" y="2212848"/>
            <a:ext cx="37947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Sends email alert on every FAIL result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800600" y="2706624"/>
            <a:ext cx="37947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HTML-formatted email with color-coded status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00600" y="3200400"/>
            <a:ext cx="37947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Includes affected tables &amp; row-count diff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800600" y="3694176"/>
            <a:ext cx="37947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Configurable recipient list via config file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800600" y="4187952"/>
            <a:ext cx="37947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Digest mode available for bulk reports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800600" y="4617720"/>
            <a:ext cx="3840480" cy="228600"/>
          </a:xfrm>
          <a:prstGeom prst="roundRect">
            <a:avLst>
              <a:gd name="adj" fmla="val 20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4846320" y="4626864"/>
            <a:ext cx="3749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📧  [ALERT] Backup restore validation FAILED · admin@imfinfi.dev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41428">
              <a:alpha val="80000"/>
            </a:srgbClr>
          </a:solidFill>
          <a:ln w="12700">
            <a:solidFill>
              <a:srgbClr val="04142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Validation Report Output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a generated report looks like — both JSON and human-readable formats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297680" cy="3657600"/>
          </a:xfrm>
          <a:prstGeom prst="roundRect">
            <a:avLst>
              <a:gd name="adj" fmla="val 2500"/>
            </a:avLst>
          </a:prstGeom>
          <a:solidFill>
            <a:srgbClr val="010508">
              <a:alpha val="95000"/>
            </a:srgbClr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JSON Report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865376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"run_id": "bkp-20250115-1432",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066544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4C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"status": "FAIL",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267712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"timestamp": "2025-01-15T14:32:00Z",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"checks": {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670048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"table_existence": "PASS",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871216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"row_count": "PASS",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072384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4C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"checksum": "FAIL",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273552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"integrity": "PASS"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474720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},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675888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A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"checksum_expected": "a3f9...",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877056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A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"checksum_actual":  "b2e1...",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078224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"github_issue": 142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4279392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123444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37760" y="128016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Report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169164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ID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169164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bkp-20250115-1432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196596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196596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FAILED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224028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224028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2025-01-15 14:32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251460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──────────────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251460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27889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Check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278892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PASS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306324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 Count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306324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PASS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83480" y="333756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Checksum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58000" y="333756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FAIL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83480" y="361188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58000" y="361188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PASS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83480" y="388620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──────────────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0" y="388620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83480" y="41605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Issue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58000" y="416052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#142 opened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83480" y="443484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Alert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58000" y="443484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 ✓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41428">
              <a:alpha val="80000"/>
            </a:srgbClr>
          </a:solidFill>
          <a:ln w="12700">
            <a:solidFill>
              <a:srgbClr val="04142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Tools &amp; Platforms Used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886968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Models &amp; APIs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020A16">
              <a:alpha val="90000"/>
            </a:srgbClr>
          </a:solidFill>
          <a:ln w="25400">
            <a:solidFill>
              <a:srgbClr val="F55036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32688" y="1353312"/>
            <a:ext cx="786384" cy="786384"/>
          </a:xfrm>
          <a:prstGeom prst="ellipse">
            <a:avLst/>
          </a:prstGeom>
          <a:solidFill>
            <a:srgbClr val="F55036"/>
          </a:solidFill>
          <a:ln w="12700">
            <a:solidFill>
              <a:srgbClr val="F550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1453896"/>
            <a:ext cx="585216" cy="585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1945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 API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2432304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Inference Engine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87168" y="1261872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020A16">
              <a:alpha val="90000"/>
            </a:srgbClr>
          </a:solidFill>
          <a:ln w="25400">
            <a:solidFill>
              <a:srgbClr val="10A37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054096" y="1353312"/>
            <a:ext cx="786384" cy="786384"/>
          </a:xfrm>
          <a:prstGeom prst="ellipse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4680" y="1453896"/>
            <a:ext cx="585216" cy="5852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32888" y="21945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ChatGPT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532888" y="2432304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OpenAI GPT-4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608576" y="1261872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020A16">
              <a:alpha val="90000"/>
            </a:srgbClr>
          </a:solidFill>
          <a:ln w="25400">
            <a:solidFill>
              <a:srgbClr val="CC785C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5175504" y="1353312"/>
            <a:ext cx="786384" cy="786384"/>
          </a:xfrm>
          <a:prstGeom prst="ellipse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6088" y="1453896"/>
            <a:ext cx="585216" cy="5852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54296" y="21945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Claude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654296" y="2432304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Anthropic AI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729984" y="1261872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020A16">
              <a:alpha val="90000"/>
            </a:srgbClr>
          </a:solidFill>
          <a:ln w="25400">
            <a:solidFill>
              <a:srgbClr val="6E40C9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7296912" y="1353312"/>
            <a:ext cx="786384" cy="786384"/>
          </a:xfrm>
          <a:prstGeom prst="ellipse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7496" y="1453896"/>
            <a:ext cx="585216" cy="58521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75704" y="21945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Copilot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775704" y="2432304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Copilot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1143000" y="2816352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020A16">
              <a:alpha val="90000"/>
            </a:srgbClr>
          </a:solidFill>
          <a:ln w="25400">
            <a:solidFill>
              <a:srgbClr val="0891B2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1709928" y="2907792"/>
            <a:ext cx="786384" cy="7863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0512" y="3008376"/>
            <a:ext cx="585216" cy="58521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88720" y="37490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 AI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188720" y="3986784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Workflow Assistant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3538728" y="2816352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020A16">
              <a:alpha val="90000"/>
            </a:srgbClr>
          </a:solidFill>
          <a:ln w="25400">
            <a:solidFill>
              <a:srgbClr val="1A73E8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4105656" y="2907792"/>
            <a:ext cx="786384" cy="786384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6240" y="3008376"/>
            <a:ext cx="585216" cy="58521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584448" y="37490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Gemini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3584448" y="3986784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Gemini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5934456" y="2816352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020A16">
              <a:alpha val="90000"/>
            </a:srgbClr>
          </a:solidFill>
          <a:ln w="25400">
            <a:solidFill>
              <a:srgbClr val="7C3AED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29"/>
          <p:cNvSpPr/>
          <p:nvPr/>
        </p:nvSpPr>
        <p:spPr>
          <a:xfrm>
            <a:off x="6501384" y="2907792"/>
            <a:ext cx="786384" cy="7863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1968" y="3008376"/>
            <a:ext cx="585216" cy="58521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980176" y="37490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Antigravity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5980176" y="3986784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Dev Tool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365760" y="4341993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3"/>
          <p:cNvSpPr/>
          <p:nvPr/>
        </p:nvSpPr>
        <p:spPr>
          <a:xfrm>
            <a:off x="4526280" y="4425696"/>
            <a:ext cx="0" cy="548640"/>
          </a:xfrm>
          <a:prstGeom prst="line">
            <a:avLst/>
          </a:prstGeom>
          <a:noFill/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4462272"/>
            <a:ext cx="402336" cy="402336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1024128" y="4425696"/>
            <a:ext cx="1463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Platform:</a:t>
            </a:r>
            <a:endParaRPr lang="en-US" sz="950" dirty="0"/>
          </a:p>
        </p:txBody>
      </p:sp>
      <p:sp>
        <p:nvSpPr>
          <p:cNvPr id="45" name="Text 35"/>
          <p:cNvSpPr/>
          <p:nvPr/>
        </p:nvSpPr>
        <p:spPr>
          <a:xfrm>
            <a:off x="1024128" y="4663440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Render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4663440" y="4425696"/>
            <a:ext cx="1828800" cy="17232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Additional Tools:</a:t>
            </a:r>
            <a:endParaRPr lang="en-US" sz="950" dirty="0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3440" y="4605762"/>
            <a:ext cx="365760" cy="36576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5102352" y="4681728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</a:t>
            </a:r>
            <a:endParaRPr lang="en-US" sz="1200" dirty="0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4626864"/>
            <a:ext cx="365760" cy="365760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6839712" y="4681728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55000"/>
            </a:srgbClr>
          </a:solidFill>
          <a:ln w="12700">
            <a:solidFill>
              <a:srgbClr val="000D1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0810">
              <a:alpha val="70000"/>
            </a:srgbClr>
          </a:solidFill>
          <a:ln w="12700">
            <a:solidFill>
              <a:srgbClr val="02081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Enhancements &amp; Roadmap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we go next</a:t>
            </a:r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2651760" cy="3611880"/>
          </a:xfrm>
          <a:prstGeom prst="roundRect">
            <a:avLst>
              <a:gd name="adj" fmla="val 413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2651760" cy="658368"/>
          </a:xfrm>
          <a:prstGeom prst="roundRect">
            <a:avLst>
              <a:gd name="adj" fmla="val 16667"/>
            </a:avLst>
          </a:prstGeom>
          <a:solidFill>
            <a:srgbClr val="0D5C3A"/>
          </a:solidFill>
          <a:ln w="12700">
            <a:solidFill>
              <a:srgbClr val="0D5C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2651760" cy="347472"/>
          </a:xfrm>
          <a:prstGeom prst="rect">
            <a:avLst/>
          </a:prstGeom>
          <a:solidFill>
            <a:srgbClr val="0D5C3A"/>
          </a:solidFill>
          <a:ln w="12700">
            <a:solidFill>
              <a:srgbClr val="0D5C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24688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(Current)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1993392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66928" y="1993392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SQLite backup verification</a:t>
            </a:r>
          </a:p>
        </p:txBody>
      </p:sp>
      <p:sp>
        <p:nvSpPr>
          <p:cNvPr id="12" name="Shape 10"/>
          <p:cNvSpPr/>
          <p:nvPr/>
        </p:nvSpPr>
        <p:spPr>
          <a:xfrm>
            <a:off x="530352" y="2523744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66928" y="2523744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SHA-256 checksum validation</a:t>
            </a:r>
          </a:p>
        </p:txBody>
      </p:sp>
      <p:sp>
        <p:nvSpPr>
          <p:cNvPr id="14" name="Shape 12"/>
          <p:cNvSpPr/>
          <p:nvPr/>
        </p:nvSpPr>
        <p:spPr>
          <a:xfrm>
            <a:off x="530352" y="3054096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6928" y="3054096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GitHub &amp; Gmail alerts</a:t>
            </a:r>
          </a:p>
        </p:txBody>
      </p:sp>
      <p:sp>
        <p:nvSpPr>
          <p:cNvPr id="16" name="Shape 14"/>
          <p:cNvSpPr/>
          <p:nvPr/>
        </p:nvSpPr>
        <p:spPr>
          <a:xfrm>
            <a:off x="530352" y="3584448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66928" y="3584448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Web dashboard</a:t>
            </a:r>
          </a:p>
        </p:txBody>
      </p:sp>
      <p:sp>
        <p:nvSpPr>
          <p:cNvPr id="18" name="Shape 16"/>
          <p:cNvSpPr/>
          <p:nvPr/>
        </p:nvSpPr>
        <p:spPr>
          <a:xfrm>
            <a:off x="530352" y="4114800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66928" y="4114800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AI troubleshooter</a:t>
            </a:r>
          </a:p>
        </p:txBody>
      </p:sp>
      <p:sp>
        <p:nvSpPr>
          <p:cNvPr id="20" name="Shape 18"/>
          <p:cNvSpPr/>
          <p:nvPr/>
        </p:nvSpPr>
        <p:spPr>
          <a:xfrm>
            <a:off x="3246120" y="1261872"/>
            <a:ext cx="2651760" cy="3611880"/>
          </a:xfrm>
          <a:prstGeom prst="roundRect">
            <a:avLst>
              <a:gd name="adj" fmla="val 413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46120" y="1261872"/>
            <a:ext cx="2651760" cy="658368"/>
          </a:xfrm>
          <a:prstGeom prst="roundRect">
            <a:avLst>
              <a:gd name="adj" fmla="val 16667"/>
            </a:avLst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46120" y="1572768"/>
            <a:ext cx="2651760" cy="347472"/>
          </a:xfrm>
          <a:prstGeom prst="rect">
            <a:avLst/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337560" y="1261872"/>
            <a:ext cx="24688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(Near-term)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10712" y="1993392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47288" y="1993392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PostgreSQL &amp; MySQL support</a:t>
            </a:r>
          </a:p>
        </p:txBody>
      </p:sp>
      <p:sp>
        <p:nvSpPr>
          <p:cNvPr id="26" name="Shape 24"/>
          <p:cNvSpPr/>
          <p:nvPr/>
        </p:nvSpPr>
        <p:spPr>
          <a:xfrm>
            <a:off x="3410712" y="2523744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447288" y="2523744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Cloud backup (S3, GCS)</a:t>
            </a:r>
          </a:p>
        </p:txBody>
      </p:sp>
      <p:sp>
        <p:nvSpPr>
          <p:cNvPr id="28" name="Shape 26"/>
          <p:cNvSpPr/>
          <p:nvPr/>
        </p:nvSpPr>
        <p:spPr>
          <a:xfrm>
            <a:off x="3410712" y="3054096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47288" y="3054096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Slack &amp; Teams notifications</a:t>
            </a:r>
          </a:p>
        </p:txBody>
      </p:sp>
      <p:sp>
        <p:nvSpPr>
          <p:cNvPr id="30" name="Shape 28"/>
          <p:cNvSpPr/>
          <p:nvPr/>
        </p:nvSpPr>
        <p:spPr>
          <a:xfrm>
            <a:off x="3410712" y="3584448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447288" y="3584448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Role-based dashboard access</a:t>
            </a:r>
          </a:p>
        </p:txBody>
      </p:sp>
      <p:sp>
        <p:nvSpPr>
          <p:cNvPr id="32" name="Shape 30"/>
          <p:cNvSpPr/>
          <p:nvPr/>
        </p:nvSpPr>
        <p:spPr>
          <a:xfrm>
            <a:off x="3410712" y="4114800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447288" y="4114800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Scheduled auto-verification</a:t>
            </a:r>
          </a:p>
        </p:txBody>
      </p:sp>
      <p:sp>
        <p:nvSpPr>
          <p:cNvPr id="34" name="Shape 32"/>
          <p:cNvSpPr/>
          <p:nvPr/>
        </p:nvSpPr>
        <p:spPr>
          <a:xfrm>
            <a:off x="6126480" y="1261872"/>
            <a:ext cx="2651760" cy="3611880"/>
          </a:xfrm>
          <a:prstGeom prst="roundRect">
            <a:avLst>
              <a:gd name="adj" fmla="val 413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126480" y="1261872"/>
            <a:ext cx="2651760" cy="658368"/>
          </a:xfrm>
          <a:prstGeom prst="roundRect">
            <a:avLst>
              <a:gd name="adj" fmla="val 16667"/>
            </a:avLst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126480" y="1572768"/>
            <a:ext cx="2651760" cy="347472"/>
          </a:xfrm>
          <a:prstGeom prst="rect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217920" y="1261872"/>
            <a:ext cx="24688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(Vision)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91072" y="1993392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327648" y="1993392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Anomaly detection via ML</a:t>
            </a:r>
          </a:p>
        </p:txBody>
      </p:sp>
      <p:sp>
        <p:nvSpPr>
          <p:cNvPr id="40" name="Shape 38"/>
          <p:cNvSpPr/>
          <p:nvPr/>
        </p:nvSpPr>
        <p:spPr>
          <a:xfrm>
            <a:off x="6291072" y="2523744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327648" y="2523744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Multi-region backup failover</a:t>
            </a:r>
          </a:p>
        </p:txBody>
      </p:sp>
      <p:sp>
        <p:nvSpPr>
          <p:cNvPr id="42" name="Shape 40"/>
          <p:cNvSpPr/>
          <p:nvPr/>
        </p:nvSpPr>
        <p:spPr>
          <a:xfrm>
            <a:off x="6291072" y="3054096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327648" y="3054096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Compliance report (SOC2/ISO)</a:t>
            </a:r>
          </a:p>
        </p:txBody>
      </p:sp>
      <p:sp>
        <p:nvSpPr>
          <p:cNvPr id="44" name="Shape 42"/>
          <p:cNvSpPr/>
          <p:nvPr/>
        </p:nvSpPr>
        <p:spPr>
          <a:xfrm>
            <a:off x="6291072" y="3584448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327648" y="3584448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Self-healing restore pipeline</a:t>
            </a:r>
          </a:p>
        </p:txBody>
      </p:sp>
      <p:sp>
        <p:nvSpPr>
          <p:cNvPr id="46" name="Shape 44"/>
          <p:cNvSpPr/>
          <p:nvPr/>
        </p:nvSpPr>
        <p:spPr>
          <a:xfrm>
            <a:off x="6291072" y="4114800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327648" y="4114800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Enterprise SLA tracking</a:t>
            </a:r>
          </a:p>
        </p:txBody>
      </p:sp>
      <p:sp>
        <p:nvSpPr>
          <p:cNvPr id="48" name="Shape 46"/>
          <p:cNvSpPr/>
          <p:nvPr/>
        </p:nvSpPr>
        <p:spPr>
          <a:xfrm>
            <a:off x="365760" y="4956048"/>
            <a:ext cx="8412480" cy="0"/>
          </a:xfrm>
          <a:prstGeom prst="roundRect">
            <a:avLst/>
          </a:prstGeom>
          <a:noFill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 of the Solution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5303520" cy="457200"/>
          </a:xfrm>
          <a:prstGeom prst="roundRect">
            <a:avLst>
              <a:gd name="adj" fmla="val 14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Eliminates uncertainty in disaster recovery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5303520" cy="457200"/>
          </a:xfrm>
          <a:prstGeom prst="roundRect">
            <a:avLst>
              <a:gd name="adj" fmla="val 14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Ensures backup recoverability with cryptographic proof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5303520" cy="457200"/>
          </a:xfrm>
          <a:prstGeom prst="roundRect">
            <a:avLst>
              <a:gd name="adj" fmla="val 14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Reduces operational risk and improves system reliability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5303520" cy="457200"/>
          </a:xfrm>
          <a:prstGeom prst="roundRect">
            <a:avLst>
              <a:gd name="adj" fmla="val 14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297180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Enables proactive issue detection before disasters strike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5303520" cy="457200"/>
          </a:xfrm>
          <a:prstGeom prst="roundRect">
            <a:avLst>
              <a:gd name="adj" fmla="val 14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52044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Strengthens business continuity planning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97880" y="1472184"/>
            <a:ext cx="2880360" cy="2377440"/>
          </a:xfrm>
          <a:prstGeom prst="roundRect">
            <a:avLst>
              <a:gd name="adj" fmla="val 4615"/>
            </a:avLst>
          </a:prstGeom>
          <a:solidFill>
            <a:srgbClr val="082030"/>
          </a:solidFill>
          <a:ln w="254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140" y="1810512"/>
            <a:ext cx="1005840" cy="10058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989320" y="2542032"/>
            <a:ext cx="2697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89320" y="2880360"/>
            <a:ext cx="2697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Organizations gain confidence that their backups will work when needed most.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4206240"/>
            <a:ext cx="82296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"Backups are no longer a blind spot."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41428">
              <a:alpha val="80000"/>
            </a:srgbClr>
          </a:solidFill>
          <a:ln w="12700">
            <a:solidFill>
              <a:srgbClr val="04142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Contributions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993392" cy="4005072"/>
          </a:xfrm>
          <a:prstGeom prst="roundRect">
            <a:avLst>
              <a:gd name="adj" fmla="val 550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13816" y="1051560"/>
            <a:ext cx="914400" cy="914400"/>
          </a:xfrm>
          <a:prstGeom prst="ellipse">
            <a:avLst/>
          </a:prstGeom>
          <a:solidFill>
            <a:srgbClr val="1A4A6A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118872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6616" y="20574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Sujeth 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56616" y="242316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 Module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02336" y="281635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02336" y="281635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 Generation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02336" y="336499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02336" y="336499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Rotation Management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02336" y="391363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02336" y="391363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Scheduler Module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450592" y="914400"/>
            <a:ext cx="1993392" cy="4005072"/>
          </a:xfrm>
          <a:prstGeom prst="roundRect">
            <a:avLst>
              <a:gd name="adj" fmla="val 550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2990088" y="1051560"/>
            <a:ext cx="914400" cy="914400"/>
          </a:xfrm>
          <a:prstGeom prst="ellipse">
            <a:avLst/>
          </a:prstGeom>
          <a:solidFill>
            <a:srgbClr val="0D5C3A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248" y="1188720"/>
            <a:ext cx="640080" cy="640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532888" y="20574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Vannilavan C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532888" y="242316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Restore &amp; Validation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578608" y="281635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2578608" y="281635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 Restoration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578608" y="336499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2578608" y="336499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Sandbox Environment Setup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2578608" y="391363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2578608" y="391363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Validation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626864" y="914400"/>
            <a:ext cx="1993392" cy="4005072"/>
          </a:xfrm>
          <a:prstGeom prst="roundRect">
            <a:avLst>
              <a:gd name="adj" fmla="val 550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4"/>
          <p:cNvSpPr/>
          <p:nvPr/>
        </p:nvSpPr>
        <p:spPr>
          <a:xfrm>
            <a:off x="5166360" y="1051560"/>
            <a:ext cx="914400" cy="914400"/>
          </a:xfrm>
          <a:prstGeom prst="ellipse">
            <a:avLst/>
          </a:prstGeom>
          <a:solidFill>
            <a:srgbClr val="5B2C6F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1188720"/>
            <a:ext cx="640080" cy="6400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709160" y="20574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Sudarshan S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4709160" y="242316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Orchestration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4754880" y="281635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8"/>
          <p:cNvSpPr/>
          <p:nvPr/>
        </p:nvSpPr>
        <p:spPr>
          <a:xfrm>
            <a:off x="4754880" y="281635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Orchestration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4754880" y="336499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0"/>
          <p:cNvSpPr/>
          <p:nvPr/>
        </p:nvSpPr>
        <p:spPr>
          <a:xfrm>
            <a:off x="4754880" y="336499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Configuration Management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4754880" y="391363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2"/>
          <p:cNvSpPr/>
          <p:nvPr/>
        </p:nvSpPr>
        <p:spPr>
          <a:xfrm>
            <a:off x="4754880" y="391363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Logging System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6803136" y="914400"/>
            <a:ext cx="1993392" cy="4005072"/>
          </a:xfrm>
          <a:prstGeom prst="roundRect">
            <a:avLst>
              <a:gd name="adj" fmla="val 550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4"/>
          <p:cNvSpPr/>
          <p:nvPr/>
        </p:nvSpPr>
        <p:spPr>
          <a:xfrm>
            <a:off x="7342632" y="1051560"/>
            <a:ext cx="914400" cy="914400"/>
          </a:xfrm>
          <a:prstGeom prst="ellipse">
            <a:avLst/>
          </a:prstGeom>
          <a:solidFill>
            <a:srgbClr val="784212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9792" y="1188720"/>
            <a:ext cx="640080" cy="64008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885432" y="20574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Vishwa Adhesh S K</a:t>
            </a:r>
            <a:endParaRPr lang="en-US" sz="1300" dirty="0"/>
          </a:p>
        </p:txBody>
      </p:sp>
      <p:sp>
        <p:nvSpPr>
          <p:cNvPr id="42" name="Text 36"/>
          <p:cNvSpPr/>
          <p:nvPr/>
        </p:nvSpPr>
        <p:spPr>
          <a:xfrm>
            <a:off x="6885432" y="242316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Reporting &amp; Alerts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6931152" y="281635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8"/>
          <p:cNvSpPr/>
          <p:nvPr/>
        </p:nvSpPr>
        <p:spPr>
          <a:xfrm>
            <a:off x="6931152" y="281635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 Generation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6931152" y="336499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0"/>
          <p:cNvSpPr/>
          <p:nvPr/>
        </p:nvSpPr>
        <p:spPr>
          <a:xfrm>
            <a:off x="6931152" y="336499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Issue Automation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6931152" y="391363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2"/>
          <p:cNvSpPr/>
          <p:nvPr/>
        </p:nvSpPr>
        <p:spPr>
          <a:xfrm>
            <a:off x="6931152" y="391363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 Services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FD1EB1-051C-1B6D-FBDB-14BBD6283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0">
            <a:extLst>
              <a:ext uri="{FF2B5EF4-FFF2-40B4-BE49-F238E27FC236}">
                <a16:creationId xmlns:a16="http://schemas.microsoft.com/office/drawing/2014/main" id="{FF346078-CA24-6F53-ABA9-16C53A6BD5A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55000"/>
            </a:srgbClr>
          </a:solidFill>
          <a:ln w="12700">
            <a:solidFill>
              <a:srgbClr val="000D1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F84B06D5-6B4E-0834-23BB-8DA96B11143F}"/>
              </a:ext>
            </a:extLst>
          </p:cNvPr>
          <p:cNvSpPr/>
          <p:nvPr/>
        </p:nvSpPr>
        <p:spPr>
          <a:xfrm>
            <a:off x="2514602" y="1940552"/>
            <a:ext cx="4571999" cy="1085849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r>
              <a:rPr lang="en-IN" sz="6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Thank you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102D3B-4FEC-7E4D-34F8-9664F100878F}"/>
              </a:ext>
            </a:extLst>
          </p:cNvPr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11FCD6B-B609-7E38-F40F-44F506D12A4F}"/>
              </a:ext>
            </a:extLst>
          </p:cNvPr>
          <p:cNvSpPr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34D529A-0270-B5F9-44CC-A8C30A70CEA5}"/>
              </a:ext>
            </a:extLst>
          </p:cNvPr>
          <p:cNvSpPr/>
          <p:nvPr/>
        </p:nvSpPr>
        <p:spPr>
          <a:xfrm>
            <a:off x="502920" y="132588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6C27DF0-B72E-33BB-79F4-E1623B29AFB1}"/>
              </a:ext>
            </a:extLst>
          </p:cNvPr>
          <p:cNvSpPr/>
          <p:nvPr/>
        </p:nvSpPr>
        <p:spPr>
          <a:xfrm>
            <a:off x="502920" y="242316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EF32E91-9E1C-1A2A-B604-432C742E326A}"/>
              </a:ext>
            </a:extLst>
          </p:cNvPr>
          <p:cNvSpPr/>
          <p:nvPr/>
        </p:nvSpPr>
        <p:spPr>
          <a:xfrm>
            <a:off x="502920" y="297180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F19662E-E26E-9E92-F739-5B25B0E357FB}"/>
              </a:ext>
            </a:extLst>
          </p:cNvPr>
          <p:cNvSpPr/>
          <p:nvPr/>
        </p:nvSpPr>
        <p:spPr>
          <a:xfrm>
            <a:off x="502920" y="352044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00B9D76-B537-FD94-2330-E41606CA3B76}"/>
              </a:ext>
            </a:extLst>
          </p:cNvPr>
          <p:cNvSpPr/>
          <p:nvPr/>
        </p:nvSpPr>
        <p:spPr>
          <a:xfrm>
            <a:off x="5989320" y="2542032"/>
            <a:ext cx="2697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77330AEC-2DCD-E7F9-1B27-0B2F7D8A43BC}"/>
              </a:ext>
            </a:extLst>
          </p:cNvPr>
          <p:cNvSpPr/>
          <p:nvPr/>
        </p:nvSpPr>
        <p:spPr>
          <a:xfrm>
            <a:off x="5989320" y="2880360"/>
            <a:ext cx="2697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CDD5D8DE-29C4-3E32-D1BF-3FD9E2BE448E}"/>
              </a:ext>
            </a:extLst>
          </p:cNvPr>
          <p:cNvSpPr/>
          <p:nvPr/>
        </p:nvSpPr>
        <p:spPr>
          <a:xfrm>
            <a:off x="328247" y="4209757"/>
            <a:ext cx="82296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9C669A86-67DF-82D4-22B0-DAD011844C30}"/>
              </a:ext>
            </a:extLst>
          </p:cNvPr>
          <p:cNvSpPr/>
          <p:nvPr/>
        </p:nvSpPr>
        <p:spPr>
          <a:xfrm flipH="1">
            <a:off x="-970670" y="-154745"/>
            <a:ext cx="970670" cy="4747846"/>
          </a:xfrm>
          <a:prstGeom prst="rect">
            <a:avLst/>
          </a:prstGeom>
          <a:solidFill>
            <a:srgbClr val="000D1A">
              <a:alpha val="55000"/>
            </a:srgbClr>
          </a:solidFill>
          <a:ln w="12700">
            <a:solidFill>
              <a:srgbClr val="000D1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687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1051</Words>
  <Application>Microsoft Office PowerPoint</Application>
  <PresentationFormat>On-screen Show (16:9)</PresentationFormat>
  <Paragraphs>308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Rounded MT Bold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Backup Verification Simulator</dc:title>
  <dc:subject>PptxGenJS Presentation</dc:subject>
  <dc:creator>Sujeth M, Vannilavan C, Sudarshan S, Vishwa Adhesh</dc:creator>
  <cp:lastModifiedBy>Sudarshan S</cp:lastModifiedBy>
  <cp:revision>9</cp:revision>
  <dcterms:created xsi:type="dcterms:W3CDTF">2026-06-11T05:19:00Z</dcterms:created>
  <dcterms:modified xsi:type="dcterms:W3CDTF">2026-06-11T07:01:29Z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34FD2A3FF21B46BE978613DDC490C23A_12</vt:lpwstr>
  </property>
  <property fmtid="{D5CDD505-2E9C-101B-9397-08002B2CF9AE}" pid="3" name="KSOProductBuildVer">
    <vt:lpwstr>1033-12.1.0.26880</vt:lpwstr>
  </property>
</Properties>
</file>