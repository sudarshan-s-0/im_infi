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1.jpe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70000"/>
            </a:srgbClr>
          </a:solidFill>
          <a:ln w="12700">
            <a:solidFill>
              <a:srgbClr val="000D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C8F0">
              <a:alpha val="20000"/>
            </a:srgbClr>
          </a:solidFill>
          <a:ln w="12700">
            <a:solidFill>
              <a:srgbClr val="00C8F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0C8F0">
              <a:alpha val="15000"/>
            </a:srgbClr>
          </a:solidFill>
          <a:ln w="12700">
            <a:solidFill>
              <a:srgbClr val="00C8F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029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IM_INFI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280160"/>
            <a:ext cx="82296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Verification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Simulator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342900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Backup Validation &amp; Recovery Readiness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97764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 backup is only useful if it can be restored successfully."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Sujeth 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5176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65176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Vannilavan 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0060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Sudarshan 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4944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94944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Vishwa Adhesh S K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6459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Backup Validation Matters</a:t>
            </a:r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1371600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1371600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Organizations create backups but rarely verify them</a:t>
            </a:r>
          </a:p>
        </p:txBody>
      </p:sp>
      <p:sp>
        <p:nvSpPr>
          <p:cNvPr id="10" name="Shape 7"/>
          <p:cNvSpPr/>
          <p:nvPr/>
        </p:nvSpPr>
        <p:spPr>
          <a:xfrm>
            <a:off x="411480" y="2176272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2176272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2176272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Backups assumed recoverable, often corrupted silently</a:t>
            </a:r>
          </a:p>
        </p:txBody>
      </p:sp>
      <p:sp>
        <p:nvSpPr>
          <p:cNvPr id="13" name="Shape 10"/>
          <p:cNvSpPr/>
          <p:nvPr/>
        </p:nvSpPr>
        <p:spPr>
          <a:xfrm>
            <a:off x="411480" y="2980944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02920" y="2980944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2980944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 detected only during disasters — too late</a:t>
            </a:r>
          </a:p>
        </p:txBody>
      </p:sp>
      <p:sp>
        <p:nvSpPr>
          <p:cNvPr id="16" name="Shape 13"/>
          <p:cNvSpPr/>
          <p:nvPr/>
        </p:nvSpPr>
        <p:spPr>
          <a:xfrm>
            <a:off x="411480" y="3785616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3785616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3785616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verification is time-consuming &amp; error-prone</a:t>
            </a:r>
          </a:p>
        </p:txBody>
      </p:sp>
      <p:sp>
        <p:nvSpPr>
          <p:cNvPr id="19" name="Shape 16"/>
          <p:cNvSpPr/>
          <p:nvPr/>
        </p:nvSpPr>
        <p:spPr>
          <a:xfrm>
            <a:off x="5349240" y="13716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40680" y="146304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Failure Risks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40680" y="196596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 Permanent Data Loss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40680" y="2441448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  Extended Downtime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40680" y="2916936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💸  Financial Impact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40680" y="3392424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🏢  Business Disruption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" y="4572000"/>
            <a:ext cx="8275320" cy="457200"/>
          </a:xfrm>
          <a:prstGeom prst="roundRect">
            <a:avLst>
              <a:gd name="adj" fmla="val 16000"/>
            </a:avLst>
          </a:prstGeom>
          <a:solidFill>
            <a:srgbClr val="00C8F0">
              <a:alpha val="85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02920" y="4572000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Creating backups is not enough — recovery readiness must be actively verified.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Backup Verification Simulator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7276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91640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134616" y="175056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04288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157276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67128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5848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808476" y="173558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968496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1572768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31336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0056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472684" y="174193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632704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5584" y="1572768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95544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84264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7151624" y="175412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296912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9792" y="1572768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59752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 Alert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newly created backups automatically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Restores backups to an isolated sandbox — no production impact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multi-layer validation checks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JSON and human-readable validation reports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GitHub Issues instantly on failure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 &amp; Validation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033272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789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60704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 Environment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isolation from production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18288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production impact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21031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cleanup logic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896112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892040" y="1033272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07899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060704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Multi-Layer Validation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4937760" y="15544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existence checks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37760" y="18288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row and column count comparison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937760" y="21031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Cryptographic SHA-256 checksums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 integrity checks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65760" y="292608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02920" y="3063240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0896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30906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Reporting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548640" y="358444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PASS/FAIL summaries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48640" y="385876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detailed reports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413308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Human-readable text reports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754880" y="292608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4892040" y="3063240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10896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30906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Dashboard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Text 25"/>
          <p:cNvSpPr/>
          <p:nvPr/>
        </p:nvSpPr>
        <p:spPr>
          <a:xfrm>
            <a:off x="4937760" y="358444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history monitoring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937760" y="385876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logs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4937760" y="413308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management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Troubleshooting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Failure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Powered by: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389888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API + Llama 3.3 70B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139696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context &amp; root causes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889504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 resolution guidance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2102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639312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 time significantly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261104"/>
            <a:ext cx="59436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057400" y="4370832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directly into the web dashboard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896112"/>
            <a:ext cx="3886200" cy="4023360"/>
          </a:xfrm>
          <a:prstGeom prst="roundRect">
            <a:avLst>
              <a:gd name="adj" fmla="val 2824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937760" y="960120"/>
            <a:ext cx="3703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83480" y="1371600"/>
            <a:ext cx="3611880" cy="640080"/>
          </a:xfrm>
          <a:prstGeom prst="roundRect">
            <a:avLst>
              <a:gd name="adj" fmla="val 1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074920" y="1408176"/>
            <a:ext cx="3429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Validation failed: checksum mismatch in table users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120640" y="2121408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212080" y="2157984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detected a SHA-256 checksum mismatch. This usually means the backup was modified after creation. Let me check...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120640" y="2871216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212080" y="2907792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Cause: Backup file corruption during transfer.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Re-run backup with --verify flag and validate the source database integrity first.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983480" y="3621024"/>
            <a:ext cx="3611880" cy="640080"/>
          </a:xfrm>
          <a:prstGeom prst="roundRect">
            <a:avLst>
              <a:gd name="adj" fmla="val 1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074920" y="3657600"/>
            <a:ext cx="3429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Resolution applied. Validation passed.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6200" y="9601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86200" y="9601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26974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1A3A5C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71800" y="269748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/ FastAPI Backend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356616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0D5C63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356616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0" cy="36576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14088" y="16687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331720"/>
            <a:ext cx="0" cy="36576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14088" y="254889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200400"/>
            <a:ext cx="0" cy="36576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14088" y="341757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20810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43434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2377440" y="4654296"/>
            <a:ext cx="1463040" cy="9144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0" y="4343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20810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0" y="43434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4069080"/>
            <a:ext cx="0" cy="274320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766560" y="4343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20810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66560" y="43434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4649216"/>
            <a:ext cx="1463040" cy="14224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Verification Process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81328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35534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Creation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Rotation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508760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691640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47088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536" y="1481328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91284" y="13853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709928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Agent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944368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3127248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82696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1563624"/>
            <a:ext cx="731520" cy="6492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76168" y="13350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145536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379976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4562856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18304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1481328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64024" y="1344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81144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815584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5998464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153912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1563624"/>
            <a:ext cx="685800" cy="6492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99632" y="1344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016752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251192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7434072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589520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4968" y="1481328"/>
            <a:ext cx="731520" cy="7315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35240" y="1344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452360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Metadata Log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7200" y="320040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33756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234440" y="3246120"/>
            <a:ext cx="7315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Continuous verification of backup recoverability — with zero manual effort.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1005840" y="411480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0A4A6A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5"/>
          <p:cNvSpPr/>
          <p:nvPr/>
        </p:nvSpPr>
        <p:spPr>
          <a:xfrm>
            <a:off x="1005840" y="4133088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1005840" y="450799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611880" y="411480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0A4A6A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8"/>
          <p:cNvSpPr/>
          <p:nvPr/>
        </p:nvSpPr>
        <p:spPr>
          <a:xfrm>
            <a:off x="3611880" y="4133088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</a:t>
            </a:r>
            <a:endParaRPr lang="en-US" sz="1800" dirty="0"/>
          </a:p>
        </p:txBody>
      </p:sp>
      <p:sp>
        <p:nvSpPr>
          <p:cNvPr id="48" name="Text 39"/>
          <p:cNvSpPr/>
          <p:nvPr/>
        </p:nvSpPr>
        <p:spPr>
          <a:xfrm>
            <a:off x="3611880" y="450799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Cryptographic Check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6217920" y="411480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0A4A6A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1"/>
          <p:cNvSpPr/>
          <p:nvPr/>
        </p:nvSpPr>
        <p:spPr>
          <a:xfrm>
            <a:off x="6217920" y="4133088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51" name="Text 42"/>
          <p:cNvSpPr/>
          <p:nvPr/>
        </p:nvSpPr>
        <p:spPr>
          <a:xfrm>
            <a:off x="6217920" y="450799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74320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950976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743200" cy="1828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0" y="950976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Framework</a:t>
            </a:r>
          </a:p>
        </p:txBody>
      </p:sp>
      <p:sp>
        <p:nvSpPr>
          <p:cNvPr id="15" name="Shape 13"/>
          <p:cNvSpPr/>
          <p:nvPr/>
        </p:nvSpPr>
        <p:spPr>
          <a:xfrm>
            <a:off x="3474720" y="1463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0" y="1463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</a:p>
        </p:txBody>
      </p:sp>
      <p:sp>
        <p:nvSpPr>
          <p:cNvPr id="17" name="Shape 15"/>
          <p:cNvSpPr/>
          <p:nvPr/>
        </p:nvSpPr>
        <p:spPr>
          <a:xfrm>
            <a:off x="3474720" y="1847088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0" y="184708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743200" cy="1828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09360" y="950976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</a:p>
        </p:txBody>
      </p:sp>
      <p:sp>
        <p:nvSpPr>
          <p:cNvPr id="23" name="Shape 21"/>
          <p:cNvSpPr/>
          <p:nvPr/>
        </p:nvSpPr>
        <p:spPr>
          <a:xfrm>
            <a:off x="6400800" y="1463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</a:p>
        </p:txBody>
      </p:sp>
      <p:sp>
        <p:nvSpPr>
          <p:cNvPr id="25" name="Shape 23"/>
          <p:cNvSpPr/>
          <p:nvPr/>
        </p:nvSpPr>
        <p:spPr>
          <a:xfrm>
            <a:off x="365760" y="2907792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29077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5760" y="3182112"/>
            <a:ext cx="2743200" cy="18288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2944368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Integration</a:t>
            </a:r>
          </a:p>
        </p:txBody>
      </p:sp>
      <p:sp>
        <p:nvSpPr>
          <p:cNvPr id="29" name="Shape 27"/>
          <p:cNvSpPr/>
          <p:nvPr/>
        </p:nvSpPr>
        <p:spPr>
          <a:xfrm>
            <a:off x="548640" y="3456432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34564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API Version 1</a:t>
            </a:r>
          </a:p>
        </p:txBody>
      </p:sp>
      <p:sp>
        <p:nvSpPr>
          <p:cNvPr id="32" name="Text 30"/>
          <p:cNvSpPr/>
          <p:nvPr/>
        </p:nvSpPr>
        <p:spPr>
          <a:xfrm>
            <a:off x="548640" y="38404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91840" y="2907792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91840" y="29077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91840" y="3182112"/>
            <a:ext cx="2743200" cy="18288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83280" y="2944368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&amp; APIs</a:t>
            </a:r>
          </a:p>
        </p:txBody>
      </p:sp>
      <p:sp>
        <p:nvSpPr>
          <p:cNvPr id="37" name="Shape 35"/>
          <p:cNvSpPr/>
          <p:nvPr/>
        </p:nvSpPr>
        <p:spPr>
          <a:xfrm>
            <a:off x="3474720" y="3456432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74720" y="34564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API</a:t>
            </a:r>
          </a:p>
        </p:txBody>
      </p:sp>
      <p:sp>
        <p:nvSpPr>
          <p:cNvPr id="39" name="Shape 37"/>
          <p:cNvSpPr/>
          <p:nvPr/>
        </p:nvSpPr>
        <p:spPr>
          <a:xfrm>
            <a:off x="3474720" y="38404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474720" y="38404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API</a:t>
            </a:r>
          </a:p>
        </p:txBody>
      </p:sp>
      <p:sp>
        <p:nvSpPr>
          <p:cNvPr id="41" name="Shape 39"/>
          <p:cNvSpPr/>
          <p:nvPr/>
        </p:nvSpPr>
        <p:spPr>
          <a:xfrm>
            <a:off x="3474720" y="4224528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74720" y="422452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Schedulers</a:t>
            </a:r>
          </a:p>
        </p:txBody>
      </p:sp>
      <p:sp>
        <p:nvSpPr>
          <p:cNvPr id="43" name="Shape 41"/>
          <p:cNvSpPr/>
          <p:nvPr/>
        </p:nvSpPr>
        <p:spPr>
          <a:xfrm>
            <a:off x="6217920" y="2907792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217920" y="29077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217920" y="3182112"/>
            <a:ext cx="2743200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09360" y="2944368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</a:p>
        </p:txBody>
      </p:sp>
      <p:sp>
        <p:nvSpPr>
          <p:cNvPr id="47" name="Shape 45"/>
          <p:cNvSpPr/>
          <p:nvPr/>
        </p:nvSpPr>
        <p:spPr>
          <a:xfrm>
            <a:off x="6400800" y="3456432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00800" y="34564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</a:t>
            </a:r>
          </a:p>
        </p:txBody>
      </p:sp>
      <p:sp>
        <p:nvSpPr>
          <p:cNvPr id="49" name="Shape 47"/>
          <p:cNvSpPr/>
          <p:nvPr/>
        </p:nvSpPr>
        <p:spPr>
          <a:xfrm>
            <a:off x="6400800" y="38404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00800" y="38404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</a:p>
        </p:txBody>
      </p:sp>
      <p:sp>
        <p:nvSpPr>
          <p:cNvPr id="51" name="Shape 49"/>
          <p:cNvSpPr/>
          <p:nvPr/>
        </p:nvSpPr>
        <p:spPr>
          <a:xfrm>
            <a:off x="6400800" y="4224528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00800" y="422452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Contributions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13816" y="1051560"/>
            <a:ext cx="914400" cy="914400"/>
          </a:xfrm>
          <a:prstGeom prst="ellipse">
            <a:avLst/>
          </a:prstGeom>
          <a:solidFill>
            <a:srgbClr val="1A4A6A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1887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616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Sujeth 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6616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Module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02336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2336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Generation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336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02336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Rotation Management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2336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02336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Scheduler Module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50592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990088" y="1051560"/>
            <a:ext cx="914400" cy="914400"/>
          </a:xfrm>
          <a:prstGeom prst="ellipse">
            <a:avLst/>
          </a:prstGeom>
          <a:solidFill>
            <a:srgbClr val="0D5C3A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118872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32888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Vannilavan C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532888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 &amp; Validation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578608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2578608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Restoration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578608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2578608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 Environment Setup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578608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2578608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Validation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26864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5166360" y="1051560"/>
            <a:ext cx="914400" cy="914400"/>
          </a:xfrm>
          <a:prstGeom prst="ellipse">
            <a:avLst/>
          </a:prstGeom>
          <a:solidFill>
            <a:srgbClr val="5B2C6F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188720"/>
            <a:ext cx="640080" cy="6400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709160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Sudarshan 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4709160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754880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4754880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Orchestration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754880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4754880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Management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754880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2"/>
          <p:cNvSpPr/>
          <p:nvPr/>
        </p:nvSpPr>
        <p:spPr>
          <a:xfrm>
            <a:off x="4754880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Logging System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803136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7342632" y="1051560"/>
            <a:ext cx="914400" cy="914400"/>
          </a:xfrm>
          <a:prstGeom prst="ellipse">
            <a:avLst/>
          </a:prstGeom>
          <a:solidFill>
            <a:srgbClr val="784212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9792" y="1188720"/>
            <a:ext cx="640080" cy="6400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885432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Vishwa Adhesh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6885432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&amp; Alerts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6931152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8"/>
          <p:cNvSpPr/>
          <p:nvPr/>
        </p:nvSpPr>
        <p:spPr>
          <a:xfrm>
            <a:off x="6931152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6931152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0"/>
          <p:cNvSpPr/>
          <p:nvPr/>
        </p:nvSpPr>
        <p:spPr>
          <a:xfrm>
            <a:off x="6931152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 Automation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931152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/>
          <p:nvPr/>
        </p:nvSpPr>
        <p:spPr>
          <a:xfrm>
            <a:off x="6931152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Services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C8F0">
              <a:alpha val="15000"/>
            </a:srgbClr>
          </a:solidFill>
          <a:ln w="12700">
            <a:solidFill>
              <a:srgbClr val="00C8F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2743200"/>
            <a:ext cx="2743200" cy="2743200"/>
          </a:xfrm>
          <a:prstGeom prst="ellipse">
            <a:avLst/>
          </a:prstGeom>
          <a:solidFill>
            <a:srgbClr val="00C8F0">
              <a:alpha val="15000"/>
            </a:srgbClr>
          </a:solidFill>
          <a:ln w="12700">
            <a:solidFill>
              <a:srgbClr val="00C8F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Expected Outcome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of the Solution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Eliminates uncertainty in disaster recovery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Ensures backup recoverability with cryptographic proof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Reduces operational risk and improves system reliability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Enables proactive issue detection before disasters strike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Strengthens business continuity planning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97880" y="1325880"/>
            <a:ext cx="2880360" cy="2377440"/>
          </a:xfrm>
          <a:prstGeom prst="roundRect">
            <a:avLst>
              <a:gd name="adj" fmla="val 4615"/>
            </a:avLst>
          </a:prstGeom>
          <a:solidFill>
            <a:srgbClr val="082030"/>
          </a:solidFill>
          <a:ln w="254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463040"/>
            <a:ext cx="1005840" cy="10058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89320" y="254203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2880360"/>
            <a:ext cx="2697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Organizations gain confidence that their backups will work when needed most.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420624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00C8F0">
              <a:alpha val="8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"Backups are no longer a blind spot."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Engine — Deep Dive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each check works under the hood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Existence Check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1682496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Queries sqlite_master to confirm every expected table is present in the restored sandbox database.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481328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63640" y="1481328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any table missing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313432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240280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Count Comparison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569464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rows per table in both source and sandbox. Exact match required — even ±1 row triggers a failure.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368296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63640" y="2368296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row counts differ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200400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3127248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Checksum Validation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3456432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Computes cryptographic hash of the backup file at creation time and re-verifies it before restore to detect corruption.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255264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63640" y="3255264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hash mismatch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959352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02920" y="4087368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40873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4014216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PRAGMA Integrity Check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" y="4343400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SQLite's built-in PRAGMA integrity_check on the sandbox DB to catch page corruption, broken B-trees, and invalid pointers.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142232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63640" y="4142232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integrity errors found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Alerting &amp; Integrations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4005072"/>
          </a:xfrm>
          <a:prstGeom prst="roundRect">
            <a:avLst>
              <a:gd name="adj" fmla="val 274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109270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12848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Auto-creates issue on any validation failure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706624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 title includes timestamp + check type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contains full error context &amp; stack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694176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Labels added: bug, backup-failure, auto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187952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Links to the full JSON report artifact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4617720"/>
            <a:ext cx="3794760" cy="228600"/>
          </a:xfrm>
          <a:prstGeom prst="roundRect">
            <a:avLst>
              <a:gd name="adj" fmla="val 2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4626864"/>
            <a:ext cx="3703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 [AUTO] Backup validation failed — checksum mismatch · 2 min ago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63440" y="914400"/>
            <a:ext cx="4114800" cy="4005072"/>
          </a:xfrm>
          <a:prstGeom prst="roundRect">
            <a:avLst>
              <a:gd name="adj" fmla="val 274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88136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54880" y="17373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Notifications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00600" y="2212848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Sends email alert on every FAIL result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00600" y="2706624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HTML-formatted email with color-coded status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00600" y="3200400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affected tables &amp; row-count diff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00600" y="3694176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Configurable recipient list via config file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00600" y="4187952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Digest mode available for bulk reports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800600" y="4617720"/>
            <a:ext cx="3840480" cy="228600"/>
          </a:xfrm>
          <a:prstGeom prst="roundRect">
            <a:avLst>
              <a:gd name="adj" fmla="val 2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4846320" y="4626864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📧  [ALERT] Backup restore validation FAILED · admin@imfinfi.dev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Validation Report Output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 generated report looks like — both JSON and human-readable formats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297680" cy="3657600"/>
          </a:xfrm>
          <a:prstGeom prst="roundRect">
            <a:avLst>
              <a:gd name="adj" fmla="val 2500"/>
            </a:avLst>
          </a:prstGeom>
          <a:solidFill>
            <a:srgbClr val="010508">
              <a:alpha val="95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Report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"run_id": "bkp-20250115-1432",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"status": "FAIL",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"timestamp": "2025-01-15T14:32:00Z",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"checks":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"table_existence": "PASS",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871216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"row_count": "PASS",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"checksum": "FAIL",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"integrity": "PASS"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675888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A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"checksum_expected": "a3f9...",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A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"checksum_actual":  "b2e1...",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07822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"github_issue": 142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279392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2344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Report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6916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169164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bkp-20250115-1432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19659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196596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FAILED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2402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24028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2025-01-15 14:32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5146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──────────────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51460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7889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78892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0632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Count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06324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3375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Checksum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33756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FAIL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6118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361188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8862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──────────────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388620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83480" y="4160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416052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#142 opened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83480" y="44348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Alert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443484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 ✓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Tools &amp; Platforms Used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Models &amp; APIs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F55036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2688" y="1353312"/>
            <a:ext cx="786384" cy="786384"/>
          </a:xfrm>
          <a:prstGeom prst="ellipse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1453896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API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Inference Engine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87168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10A37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054096" y="1353312"/>
            <a:ext cx="786384" cy="786384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453896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32888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ChatGPT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32888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GPT-4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08576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CC785C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175504" y="1353312"/>
            <a:ext cx="786384" cy="786384"/>
          </a:xfrm>
          <a:prstGeom prst="ellipse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1453896"/>
            <a:ext cx="585216" cy="585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4296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654296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Anthropic AI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29984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6E40C9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296912" y="1353312"/>
            <a:ext cx="786384" cy="786384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7496" y="1453896"/>
            <a:ext cx="585216" cy="5852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75704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Copilot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775704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Copilot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143000" y="281635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1709928" y="2907792"/>
            <a:ext cx="786384" cy="7863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0512" y="3008376"/>
            <a:ext cx="585216" cy="58521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749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AI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88720" y="398678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Workflow Assistant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538728" y="281635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1A73E8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4105656" y="2907792"/>
            <a:ext cx="786384" cy="786384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3008376"/>
            <a:ext cx="585216" cy="58521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84448" y="3749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584448" y="398678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5934456" y="281635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6501384" y="2907792"/>
            <a:ext cx="786384" cy="7863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968" y="3008376"/>
            <a:ext cx="585216" cy="58521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980176" y="3749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Antigravity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980176" y="398678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Dev Tool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365760" y="4341993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4526280" y="4425696"/>
            <a:ext cx="0" cy="548640"/>
          </a:xfrm>
          <a:prstGeom prst="line">
            <a:avLst/>
          </a:prstGeom>
          <a:noFill/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462272"/>
            <a:ext cx="402336" cy="40233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024128" y="4425696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Platform: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1024128" y="466344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4663440" y="4425696"/>
            <a:ext cx="1828800" cy="1723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Tools:</a:t>
            </a:r>
            <a:endParaRPr lang="en-US" sz="95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4605762"/>
            <a:ext cx="365760" cy="36576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102352" y="468172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20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4626864"/>
            <a:ext cx="365760" cy="36576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839712" y="468172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 &amp;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we go next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347472"/>
          </a:xfrm>
          <a:prstGeom prst="rect">
            <a:avLst/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24688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(Current)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1993392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1993392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SQLite backup verification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530352" y="2523744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SHA-256 checksum validation</a:t>
            </a:r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3054096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GitHub &amp; Gmail alerts</a:t>
            </a:r>
          </a:p>
        </p:txBody>
      </p:sp>
      <p:sp>
        <p:nvSpPr>
          <p:cNvPr id="16" name="Shape 14"/>
          <p:cNvSpPr/>
          <p:nvPr/>
        </p:nvSpPr>
        <p:spPr>
          <a:xfrm>
            <a:off x="530352" y="3584448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3584448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Web dashboard</a:t>
            </a:r>
          </a:p>
        </p:txBody>
      </p:sp>
      <p:sp>
        <p:nvSpPr>
          <p:cNvPr id="18" name="Shape 16"/>
          <p:cNvSpPr/>
          <p:nvPr/>
        </p:nvSpPr>
        <p:spPr>
          <a:xfrm>
            <a:off x="530352" y="4114800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" y="4114800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AI troubleshooter</a:t>
            </a:r>
          </a:p>
        </p:txBody>
      </p:sp>
      <p:sp>
        <p:nvSpPr>
          <p:cNvPr id="20" name="Shape 18"/>
          <p:cNvSpPr/>
          <p:nvPr/>
        </p:nvSpPr>
        <p:spPr>
          <a:xfrm>
            <a:off x="3246120" y="1261872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46120" y="1261872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46120" y="1572768"/>
            <a:ext cx="2651760" cy="34747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37560" y="1261872"/>
            <a:ext cx="24688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(Near-term)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10712" y="1993392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47288" y="1993392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PostgreSQL &amp; MySQL support</a:t>
            </a:r>
          </a:p>
        </p:txBody>
      </p:sp>
      <p:sp>
        <p:nvSpPr>
          <p:cNvPr id="26" name="Shape 24"/>
          <p:cNvSpPr/>
          <p:nvPr/>
        </p:nvSpPr>
        <p:spPr>
          <a:xfrm>
            <a:off x="3410712" y="2523744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47288" y="2523744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Cloud backup (S3, GCS)</a:t>
            </a:r>
          </a:p>
        </p:txBody>
      </p:sp>
      <p:sp>
        <p:nvSpPr>
          <p:cNvPr id="28" name="Shape 26"/>
          <p:cNvSpPr/>
          <p:nvPr/>
        </p:nvSpPr>
        <p:spPr>
          <a:xfrm>
            <a:off x="3410712" y="3054096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47288" y="3054096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Slack &amp; Teams notifications</a:t>
            </a:r>
          </a:p>
        </p:txBody>
      </p:sp>
      <p:sp>
        <p:nvSpPr>
          <p:cNvPr id="30" name="Shape 28"/>
          <p:cNvSpPr/>
          <p:nvPr/>
        </p:nvSpPr>
        <p:spPr>
          <a:xfrm>
            <a:off x="3410712" y="3584448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47288" y="3584448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Role-based dashboard access</a:t>
            </a:r>
          </a:p>
        </p:txBody>
      </p:sp>
      <p:sp>
        <p:nvSpPr>
          <p:cNvPr id="32" name="Shape 30"/>
          <p:cNvSpPr/>
          <p:nvPr/>
        </p:nvSpPr>
        <p:spPr>
          <a:xfrm>
            <a:off x="3410712" y="4114800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47288" y="4114800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Scheduled auto-verification</a:t>
            </a:r>
          </a:p>
        </p:txBody>
      </p:sp>
      <p:sp>
        <p:nvSpPr>
          <p:cNvPr id="34" name="Shape 32"/>
          <p:cNvSpPr/>
          <p:nvPr/>
        </p:nvSpPr>
        <p:spPr>
          <a:xfrm>
            <a:off x="6126480" y="1261872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126480" y="1261872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26480" y="1572768"/>
            <a:ext cx="2651760" cy="347472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17920" y="1261872"/>
            <a:ext cx="24688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(Vision)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91072" y="1993392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27648" y="1993392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Anomaly detection via ML</a:t>
            </a:r>
          </a:p>
        </p:txBody>
      </p:sp>
      <p:sp>
        <p:nvSpPr>
          <p:cNvPr id="40" name="Shape 38"/>
          <p:cNvSpPr/>
          <p:nvPr/>
        </p:nvSpPr>
        <p:spPr>
          <a:xfrm>
            <a:off x="6291072" y="2523744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327648" y="2523744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Multi-region backup failover</a:t>
            </a:r>
          </a:p>
        </p:txBody>
      </p:sp>
      <p:sp>
        <p:nvSpPr>
          <p:cNvPr id="42" name="Shape 40"/>
          <p:cNvSpPr/>
          <p:nvPr/>
        </p:nvSpPr>
        <p:spPr>
          <a:xfrm>
            <a:off x="6291072" y="3054096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27648" y="3054096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Compliance report (SOC2/ISO)</a:t>
            </a:r>
          </a:p>
        </p:txBody>
      </p:sp>
      <p:sp>
        <p:nvSpPr>
          <p:cNvPr id="44" name="Shape 42"/>
          <p:cNvSpPr/>
          <p:nvPr/>
        </p:nvSpPr>
        <p:spPr>
          <a:xfrm>
            <a:off x="6291072" y="3584448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27648" y="3584448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Self-healing restore pipeline</a:t>
            </a:r>
          </a:p>
        </p:txBody>
      </p:sp>
      <p:sp>
        <p:nvSpPr>
          <p:cNvPr id="46" name="Shape 44"/>
          <p:cNvSpPr/>
          <p:nvPr/>
        </p:nvSpPr>
        <p:spPr>
          <a:xfrm>
            <a:off x="6291072" y="4114800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327648" y="4114800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Enterprise SLA tracking</a:t>
            </a:r>
          </a:p>
        </p:txBody>
      </p:sp>
      <p:sp>
        <p:nvSpPr>
          <p:cNvPr id="48" name="Shape 46"/>
          <p:cNvSpPr/>
          <p:nvPr/>
        </p:nvSpPr>
        <p:spPr>
          <a:xfrm>
            <a:off x="365760" y="4956048"/>
            <a:ext cx="8412480" cy="0"/>
          </a:xfrm>
          <a:prstGeom prst="round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460A6A58-5BBA-4D10-7E01-7502A6C2D04F}"/>
              </a:ext>
            </a:extLst>
          </p:cNvPr>
          <p:cNvSpPr/>
          <p:nvPr/>
        </p:nvSpPr>
        <p:spPr>
          <a:xfrm>
            <a:off x="7406640" y="-1706880"/>
            <a:ext cx="3657600" cy="3657600"/>
          </a:xfrm>
          <a:prstGeom prst="ellipse">
            <a:avLst/>
          </a:prstGeom>
          <a:solidFill>
            <a:srgbClr val="00C8F0">
              <a:alpha val="20000"/>
            </a:srgbClr>
          </a:solidFill>
          <a:ln w="12700">
            <a:solidFill>
              <a:srgbClr val="00C8F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1">
            <a:extLst>
              <a:ext uri="{FF2B5EF4-FFF2-40B4-BE49-F238E27FC236}">
                <a16:creationId xmlns:a16="http://schemas.microsoft.com/office/drawing/2014/main" id="{8A862BFB-DF24-BFDD-D2E2-4F31BF6F6332}"/>
              </a:ext>
            </a:extLst>
          </p:cNvPr>
          <p:cNvSpPr/>
          <p:nvPr/>
        </p:nvSpPr>
        <p:spPr>
          <a:xfrm>
            <a:off x="-1828800" y="2962656"/>
            <a:ext cx="3657600" cy="3657600"/>
          </a:xfrm>
          <a:prstGeom prst="ellipse">
            <a:avLst/>
          </a:prstGeom>
          <a:solidFill>
            <a:srgbClr val="00C8F0">
              <a:alpha val="20000"/>
            </a:srgbClr>
          </a:solidFill>
          <a:ln w="12700">
            <a:solidFill>
              <a:srgbClr val="00C8F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1051</Words>
  <Application>Microsoft Office PowerPoint</Application>
  <PresentationFormat>On-screen Show (16:9)</PresentationFormat>
  <Paragraphs>307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Backup Verification Simulator</dc:title>
  <dc:subject>PptxGenJS Presentation</dc:subject>
  <dc:creator>Sujeth M, Vannilavan C, Sudarshan S, Vishwa Adhesh</dc:creator>
  <cp:lastModifiedBy>Sudarshan S</cp:lastModifiedBy>
  <cp:revision>7</cp:revision>
  <dcterms:created xsi:type="dcterms:W3CDTF">2026-06-11T05:19:00Z</dcterms:created>
  <dcterms:modified xsi:type="dcterms:W3CDTF">2026-06-11T06:33:56Z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34FD2A3FF21B46BE978613DDC490C23A_12</vt:lpwstr>
  </property>
  <property fmtid="{D5CDD505-2E9C-101B-9397-08002B2CF9AE}" pid="3" name="KSOProductBuildVer">
    <vt:lpwstr>1033-12.1.0.26880</vt:lpwstr>
  </property>
</Properties>
</file>